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avg_price 对比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avg_price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THE NORTH FACE</c:v>
                </c:pt>
                <c:pt idx="1">
                  <c:v>ALAND</c:v>
                </c:pt>
                <c:pt idx="2">
                  <c:v>A part by</c:v>
                </c:pt>
                <c:pt idx="3">
                  <c:v>HARE</c:v>
                </c:pt>
                <c:pt idx="4">
                  <c:v>Heather</c:v>
                </c:pt>
                <c:pt idx="5">
                  <c:v>mysty woman</c:v>
                </c:pt>
                <c:pt idx="6">
                  <c:v>BAYFLOW</c:v>
                </c:pt>
                <c:pt idx="7">
                  <c:v>Elura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1599.407021</c:v>
                </c:pt>
                <c:pt idx="1">
                  <c:v>730.215</c:v>
                </c:pt>
                <c:pt idx="2">
                  <c:v>649.884615</c:v>
                </c:pt>
                <c:pt idx="3">
                  <c:v>553.970345</c:v>
                </c:pt>
                <c:pt idx="4">
                  <c:v>528.666667</c:v>
                </c:pt>
                <c:pt idx="5">
                  <c:v>526.125</c:v>
                </c:pt>
                <c:pt idx="6">
                  <c:v>431.167778</c:v>
                </c:pt>
                <c:pt idx="7">
                  <c:v>386.8925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0140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编辑后：品牌均价Top10汇报页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58368"/>
            <a:ext cx="93268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50" b="0">
                <a:solidFill>
                  <a:srgbClr val="A1B4CC"/>
                </a:solidFill>
                <a:latin typeface="Microsoft YaHei"/>
              </a:rPr>
              <a:t>结构化编辑器验证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58368"/>
            <a:ext cx="17373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50" b="0">
                <a:solidFill>
                  <a:srgbClr val="2DD4BF"/>
                </a:solidFill>
                <a:latin typeface="Microsoft YaHei"/>
              </a:rPr>
              <a:t>管理汇报版 ·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2152497" cy="621792"/>
          </a:xfrm>
          <a:prstGeom prst="roundRect">
            <a:avLst/>
          </a:prstGeom>
          <a:solidFill>
            <a:srgbClr val="12344F"/>
          </a:solidFill>
          <a:ln w="10160">
            <a:solidFill>
              <a:srgbClr val="3C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10</a:t>
            </a:r>
          </a:p>
          <a:p>
            <a:r>
              <a:rPr sz="850" b="0">
                <a:solidFill>
                  <a:srgbClr val="A1B4CC"/>
                </a:solidFill>
                <a:latin typeface="Microsoft YaHei"/>
              </a:rPr>
              <a:t>返回行数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5145" y="1078992"/>
            <a:ext cx="2152497" cy="621792"/>
          </a:xfrm>
          <a:prstGeom prst="roundRect">
            <a:avLst/>
          </a:prstGeom>
          <a:solidFill>
            <a:srgbClr val="12344F"/>
          </a:solidFill>
          <a:ln w="10160">
            <a:solidFill>
              <a:srgbClr val="3C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10</a:t>
            </a:r>
          </a:p>
          <a:p>
            <a:r>
              <a:rPr sz="850" b="0">
                <a:solidFill>
                  <a:srgbClr val="A1B4CC"/>
                </a:solidFill>
                <a:latin typeface="Microsoft YaHei"/>
              </a:rPr>
              <a:t>预览行数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7371" y="1078992"/>
            <a:ext cx="2152497" cy="621792"/>
          </a:xfrm>
          <a:prstGeom prst="roundRect">
            <a:avLst/>
          </a:prstGeom>
          <a:solidFill>
            <a:srgbClr val="12344F"/>
          </a:solidFill>
          <a:ln w="10160">
            <a:solidFill>
              <a:srgbClr val="3C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  <a:p>
            <a:r>
              <a:rPr sz="850" b="0">
                <a:solidFill>
                  <a:srgbClr val="A1B4CC"/>
                </a:solidFill>
                <a:latin typeface="Microsoft YaHei"/>
              </a:rPr>
              <a:t>字段数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89596" y="1078992"/>
            <a:ext cx="2152497" cy="621792"/>
          </a:xfrm>
          <a:prstGeom prst="roundRect">
            <a:avLst/>
          </a:prstGeom>
          <a:solidFill>
            <a:srgbClr val="12344F"/>
          </a:solidFill>
          <a:ln w="10160">
            <a:solidFill>
              <a:srgbClr val="3C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1,599</a:t>
            </a:r>
          </a:p>
          <a:p>
            <a:r>
              <a:rPr sz="850" b="0">
                <a:solidFill>
                  <a:srgbClr val="A1B4CC"/>
                </a:solidFill>
                <a:latin typeface="Microsoft YaHei"/>
              </a:rPr>
              <a:t>avg_price 最大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1822" y="1078992"/>
            <a:ext cx="2152497" cy="621792"/>
          </a:xfrm>
          <a:prstGeom prst="roundRect">
            <a:avLst/>
          </a:prstGeom>
          <a:solidFill>
            <a:srgbClr val="12344F"/>
          </a:solidFill>
          <a:ln w="10160">
            <a:solidFill>
              <a:srgbClr val="3C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606.24</a:t>
            </a:r>
          </a:p>
          <a:p>
            <a:r>
              <a:rPr sz="850" b="0">
                <a:solidFill>
                  <a:srgbClr val="A1B4CC"/>
                </a:solidFill>
                <a:latin typeface="Microsoft YaHei"/>
              </a:rPr>
              <a:t>avg_price 均值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20240"/>
            <a:ext cx="4892040" cy="1234440"/>
          </a:xfrm>
          <a:prstGeom prst="roundRect">
            <a:avLst/>
          </a:prstGeom>
          <a:solidFill>
            <a:srgbClr val="0E283F"/>
          </a:solidFill>
          <a:ln w="10160">
            <a:solidFill>
              <a:srgbClr val="3C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29968"/>
            <a:ext cx="43891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50" b="1">
                <a:solidFill>
                  <a:srgbClr val="2DD4BF"/>
                </a:solidFill>
                <a:latin typeface="Microsoft YaHei"/>
              </a:rPr>
              <a:t>核心结论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304288"/>
            <a:ext cx="458114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19" b="0">
                <a:solidFill>
                  <a:srgbClr val="EBF4FF"/>
                </a:solidFill>
                <a:latin typeface="Microsoft YaHei"/>
              </a:rPr>
              <a:t>• 已通过结构化编辑器保存标题</a:t>
            </a:r>
          </a:p>
          <a:p>
            <a:pPr/>
            <a:r>
              <a:rPr sz="919" b="0">
                <a:solidFill>
                  <a:srgbClr val="EBF4FF"/>
                </a:solidFill>
                <a:latin typeface="Microsoft YaHei"/>
              </a:rPr>
              <a:t>• PPTX 包含可编辑表格和图表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91840"/>
            <a:ext cx="4892040" cy="1115568"/>
          </a:xfrm>
          <a:prstGeom prst="roundRect">
            <a:avLst/>
          </a:prstGeom>
          <a:solidFill>
            <a:srgbClr val="0E283F"/>
          </a:solidFill>
          <a:ln w="10160">
            <a:solidFill>
              <a:srgbClr val="3C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01568"/>
            <a:ext cx="43891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50" b="1">
                <a:solidFill>
                  <a:srgbClr val="2DD4BF"/>
                </a:solidFill>
                <a:latin typeface="Microsoft YaHei"/>
              </a:rPr>
              <a:t>业务解释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703320"/>
            <a:ext cx="4581144" cy="61264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19" b="0">
                <a:solidFill>
                  <a:srgbClr val="EBF4FF"/>
                </a:solidFill>
                <a:latin typeface="Microsoft YaHei"/>
              </a:rPr>
              <a:t>这是一段通过 PATCH 模拟结构化编辑器保存的业务解释。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572000"/>
            <a:ext cx="4892040" cy="1207008"/>
          </a:xfrm>
          <a:prstGeom prst="roundRect">
            <a:avLst/>
          </a:prstGeom>
          <a:solidFill>
            <a:srgbClr val="0E283F"/>
          </a:solidFill>
          <a:ln w="10160">
            <a:solidFill>
              <a:srgbClr val="3C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81728"/>
            <a:ext cx="43891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50" b="1">
                <a:solidFill>
                  <a:srgbClr val="2DD4BF"/>
                </a:solidFill>
                <a:latin typeface="Microsoft YaHei"/>
              </a:rPr>
              <a:t>下一步建议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4956048"/>
            <a:ext cx="45811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19" b="0">
                <a:solidFill>
                  <a:srgbClr val="EBF4FF"/>
                </a:solidFill>
                <a:latin typeface="Microsoft YaHei"/>
              </a:rPr>
              <a:t>• 下载 PPT 后检查可编辑对象</a:t>
            </a:r>
          </a:p>
          <a:p>
            <a:pPr/>
            <a:r>
              <a:rPr sz="919" b="0">
                <a:solidFill>
                  <a:srgbClr val="EBF4FF"/>
                </a:solidFill>
                <a:latin typeface="Microsoft YaHei"/>
              </a:rPr>
              <a:t>• 继续补充模板系统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856231"/>
            <a:ext cx="43891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50" b="1">
                <a:solidFill>
                  <a:srgbClr val="2DD4BF"/>
                </a:solidFill>
                <a:latin typeface="Microsoft YaHei"/>
              </a:rPr>
              <a:t>Office 原生图表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5623560" y="2103120"/>
          <a:ext cx="6035040" cy="1965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669280" y="4224528"/>
            <a:ext cx="43891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50" b="1">
                <a:solidFill>
                  <a:srgbClr val="2DD4BF"/>
                </a:solidFill>
                <a:latin typeface="Microsoft YaHei"/>
              </a:rPr>
              <a:t>可编辑数据表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623560" y="4462272"/>
          <a:ext cx="6035040" cy="1719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017520"/>
              </a:tblGrid>
              <a:tr h="245581">
                <a:tc>
                  <a:txBody>
                    <a:bodyPr lIns="36576" rIns="36576" tIns="27432" bIns="27432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Microsoft YaHei"/>
                        </a:rPr>
                        <a:t>BrandName</a:t>
                      </a:r>
                    </a:p>
                  </a:txBody>
                  <a:tcPr>
                    <a:solidFill>
                      <a:srgbClr val="12344F"/>
                    </a:solidFill>
                  </a:tcPr>
                </a:tc>
                <a:tc>
                  <a:txBody>
                    <a:bodyPr lIns="36576" rIns="36576" tIns="27432" bIns="27432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Microsoft YaHei"/>
                        </a:rPr>
                        <a:t>avg_price</a:t>
                      </a:r>
                    </a:p>
                  </a:txBody>
                  <a:tcPr>
                    <a:solidFill>
                      <a:srgbClr val="12344F"/>
                    </a:solidFill>
                  </a:tcPr>
                </a:tc>
              </a:tr>
              <a:tr h="245581"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THE NORTH FACE</a:t>
                      </a:r>
                    </a:p>
                  </a:txBody>
                  <a:tcPr>
                    <a:solidFill>
                      <a:srgbClr val="0A1B2C"/>
                    </a:solidFill>
                  </a:tcPr>
                </a:tc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1,599</a:t>
                      </a:r>
                    </a:p>
                  </a:txBody>
                  <a:tcPr>
                    <a:solidFill>
                      <a:srgbClr val="0A1B2C"/>
                    </a:solidFill>
                  </a:tcPr>
                </a:tc>
              </a:tr>
              <a:tr h="245581"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ALAND</a:t>
                      </a:r>
                    </a:p>
                  </a:txBody>
                  <a:tcPr>
                    <a:solidFill>
                      <a:srgbClr val="0E283F"/>
                    </a:solidFill>
                  </a:tcPr>
                </a:tc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730.22</a:t>
                      </a:r>
                    </a:p>
                  </a:txBody>
                  <a:tcPr>
                    <a:solidFill>
                      <a:srgbClr val="0E283F"/>
                    </a:solidFill>
                  </a:tcPr>
                </a:tc>
              </a:tr>
              <a:tr h="245581"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A part by</a:t>
                      </a:r>
                    </a:p>
                  </a:txBody>
                  <a:tcPr>
                    <a:solidFill>
                      <a:srgbClr val="0A1B2C"/>
                    </a:solidFill>
                  </a:tcPr>
                </a:tc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649.88</a:t>
                      </a:r>
                    </a:p>
                  </a:txBody>
                  <a:tcPr>
                    <a:solidFill>
                      <a:srgbClr val="0A1B2C"/>
                    </a:solidFill>
                  </a:tcPr>
                </a:tc>
              </a:tr>
              <a:tr h="245581"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HARE</a:t>
                      </a:r>
                    </a:p>
                  </a:txBody>
                  <a:tcPr>
                    <a:solidFill>
                      <a:srgbClr val="0E283F"/>
                    </a:solidFill>
                  </a:tcPr>
                </a:tc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553.97</a:t>
                      </a:r>
                    </a:p>
                  </a:txBody>
                  <a:tcPr>
                    <a:solidFill>
                      <a:srgbClr val="0E283F"/>
                    </a:solidFill>
                  </a:tcPr>
                </a:tc>
              </a:tr>
              <a:tr h="245581"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Heather</a:t>
                      </a:r>
                    </a:p>
                  </a:txBody>
                  <a:tcPr>
                    <a:solidFill>
                      <a:srgbClr val="0A1B2C"/>
                    </a:solidFill>
                  </a:tcPr>
                </a:tc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528.67</a:t>
                      </a:r>
                    </a:p>
                  </a:txBody>
                  <a:tcPr>
                    <a:solidFill>
                      <a:srgbClr val="0A1B2C"/>
                    </a:solidFill>
                  </a:tcPr>
                </a:tc>
              </a:tr>
              <a:tr h="245586"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mysty woman</a:t>
                      </a:r>
                    </a:p>
                  </a:txBody>
                  <a:tcPr>
                    <a:solidFill>
                      <a:srgbClr val="0E283F"/>
                    </a:solidFill>
                  </a:tcPr>
                </a:tc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526.12</a:t>
                      </a:r>
                    </a:p>
                  </a:txBody>
                  <a:tcPr>
                    <a:solidFill>
                      <a:srgbClr val="0E283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02920" y="6446520"/>
            <a:ext cx="11201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20" b="0">
                <a:solidFill>
                  <a:srgbClr val="A1B4CC"/>
                </a:solidFill>
                <a:latin typeface="Microsoft YaHei"/>
              </a:rPr>
              <a:t>Slide 1 | session=sess_1cfc7a727b | query=query_2c14cf7f99 | scheme=管理汇报版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