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平均价格 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平均价格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A part by / 差旅/商务</c:v>
                </c:pt>
                <c:pt idx="1">
                  <c:v>A part by / 生活/休闲</c:v>
                </c:pt>
                <c:pt idx="2">
                  <c:v>ALAND / 生活/休闲</c:v>
                </c:pt>
                <c:pt idx="3">
                  <c:v>BAYFLOW / 差旅/商务</c:v>
                </c:pt>
                <c:pt idx="4">
                  <c:v>BAYFLOW / 徒步/登山</c:v>
                </c:pt>
                <c:pt idx="5">
                  <c:v>BAYFLOW / 生活/休闲</c:v>
                </c:pt>
                <c:pt idx="6">
                  <c:v>BAYFLOW / 跑步</c:v>
                </c:pt>
                <c:pt idx="7">
                  <c:v>BAYFLOW / 露营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457.5</c:v>
                </c:pt>
                <c:pt idx="1">
                  <c:v>649.884615</c:v>
                </c:pt>
                <c:pt idx="2">
                  <c:v>730.215</c:v>
                </c:pt>
                <c:pt idx="3">
                  <c:v>396.5</c:v>
                </c:pt>
                <c:pt idx="4">
                  <c:v>396.5</c:v>
                </c:pt>
                <c:pt idx="5">
                  <c:v>431.167778</c:v>
                </c:pt>
                <c:pt idx="6">
                  <c:v>396.5</c:v>
                </c:pt>
                <c:pt idx="7">
                  <c:v>396.5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2014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YaHei"/>
              </a:rPr>
              <a:t>品牌 vs 场景标签对比分析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58368"/>
            <a:ext cx="8183879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A1B4CC"/>
                </a:solidFill>
                <a:latin typeface="Microsoft YaHei"/>
              </a:rPr>
              <a:t>Presenton AI 导出 · 分析各品牌在不同平台的销售价差异并生成汇报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2520" y="658368"/>
            <a:ext cx="2971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80" b="0">
                <a:solidFill>
                  <a:srgbClr val="2DD4BF"/>
                </a:solidFill>
                <a:latin typeface="Microsoft YaHei"/>
              </a:rPr>
              <a:t>Presenton AI PPT 生成 ·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2152497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52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返回行数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5145" y="1078992"/>
            <a:ext cx="2152497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52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预览行数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7371" y="1078992"/>
            <a:ext cx="2152497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字段数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9596" y="1078992"/>
            <a:ext cx="2152497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3,892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平均价格 最大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1822" y="1078992"/>
            <a:ext cx="2152497" cy="621792"/>
          </a:xfrm>
          <a:prstGeom prst="roundRect">
            <a:avLst/>
          </a:prstGeom>
          <a:solidFill>
            <a:srgbClr val="12344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 tIns="73152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553.29</a:t>
            </a:r>
          </a:p>
          <a:p>
            <a:r>
              <a:rPr sz="850" b="0">
                <a:solidFill>
                  <a:srgbClr val="A1B4CC"/>
                </a:solidFill>
                <a:latin typeface="Microsoft YaHei"/>
              </a:rPr>
              <a:t>平均价格 均值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4892040" cy="1234440"/>
          </a:xfrm>
          <a:prstGeom prst="roundRect">
            <a:avLst/>
          </a:prstGeom>
          <a:solidFill>
            <a:srgbClr val="0E283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叙事主线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304288"/>
            <a:ext cx="458114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本轮结果来自 SQL Agent 直连 MySQL：dataservice_test_local</a:t>
            </a:r>
          </a:p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关键数据：返回行数=52；预览行数=52；字段数=3；平均价格 最大=3,892</a:t>
            </a:r>
          </a:p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来源链路：query=query_418e9ce7f6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91840"/>
            <a:ext cx="4892040" cy="1115568"/>
          </a:xfrm>
          <a:prstGeom prst="roundRect">
            <a:avLst/>
          </a:prstGeom>
          <a:solidFill>
            <a:srgbClr val="0E283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0156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端到端表达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703320"/>
            <a:ext cx="4581144" cy="6126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19" b="0">
                <a:solidFill>
                  <a:srgbClr val="EBF4FF"/>
                </a:solidFill>
                <a:latin typeface="Microsoft YaHei"/>
              </a:rPr>
              <a:t>本页围绕“分析各品牌在不同平台的销售价差异并生成汇报”组织分析结果，作为 Presenton 大模型生成 PPT 的结构化输入。 当前结果字段包括 品牌, 场景标签, 平均价格，导出阶段会把结论、数据预览和生成指令发送给 Presenton。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72000"/>
            <a:ext cx="4892040" cy="1207008"/>
          </a:xfrm>
          <a:prstGeom prst="roundRect">
            <a:avLst/>
          </a:prstGeom>
          <a:solidFill>
            <a:srgbClr val="0E283F"/>
          </a:solidFill>
          <a:ln w="10160">
            <a:solidFill>
              <a:srgbClr val="3C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8172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成稿动作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956048"/>
            <a:ext cx="4581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核对标题、结论和口径</a:t>
            </a:r>
          </a:p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批准入 Deck 后调用 Presenton 生成 PPTX</a:t>
            </a:r>
          </a:p>
          <a:p>
            <a:pPr/>
            <a:r>
              <a:rPr sz="919" b="0">
                <a:solidFill>
                  <a:srgbClr val="EBF4FF"/>
                </a:solidFill>
                <a:latin typeface="Microsoft YaHei"/>
              </a:rPr>
              <a:t>• 下载后检查版式与可编辑内容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856231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Office 原生图表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623560" y="2103120"/>
          <a:ext cx="603504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0" y="4224528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1">
                <a:solidFill>
                  <a:srgbClr val="2DD4BF"/>
                </a:solidFill>
                <a:latin typeface="Microsoft YaHei"/>
              </a:rPr>
              <a:t>可编辑数据表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23560" y="4462272"/>
          <a:ext cx="6035037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79"/>
                <a:gridCol w="2011679"/>
                <a:gridCol w="2011679"/>
              </a:tblGrid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品牌</a:t>
                      </a:r>
                    </a:p>
                  </a:txBody>
                  <a:tcPr>
                    <a:solidFill>
                      <a:srgbClr val="12344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场景标签</a:t>
                      </a:r>
                    </a:p>
                  </a:txBody>
                  <a:tcPr>
                    <a:solidFill>
                      <a:srgbClr val="12344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819" b="1">
                          <a:solidFill>
                            <a:srgbClr val="FFFFFF"/>
                          </a:solidFill>
                          <a:latin typeface="Microsoft YaHei"/>
                        </a:rPr>
                        <a:t>平均价格</a:t>
                      </a:r>
                    </a:p>
                  </a:txBody>
                  <a:tcPr>
                    <a:solidFill>
                      <a:srgbClr val="12344F"/>
                    </a:solidFill>
                  </a:tcPr>
                </a:tc>
              </a:tr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A part by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差旅/商务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457.50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</a:tr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A part by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生活/休闲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649.88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</a:tr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ALAND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生活/休闲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730.22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</a:tr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BAYFLOW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差旅/商务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396.50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</a:tr>
              <a:tr h="245581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BAYFLOW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徒步/登山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396.50</a:t>
                      </a:r>
                    </a:p>
                  </a:txBody>
                  <a:tcPr>
                    <a:solidFill>
                      <a:srgbClr val="0A1B2C"/>
                    </a:solidFill>
                  </a:tcPr>
                </a:tc>
              </a:tr>
              <a:tr h="245586"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BAYFLOW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生活/休闲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  <a:tc>
                  <a:txBody>
                    <a:bodyPr lIns="36576" rIns="36576" tIns="27432" bIns="27432"/>
                    <a:lstStyle/>
                    <a:p>
                      <a:r>
                        <a:rPr sz="750" b="0">
                          <a:solidFill>
                            <a:srgbClr val="EBF4FF"/>
                          </a:solidFill>
                          <a:latin typeface="Microsoft YaHei"/>
                        </a:rPr>
                        <a:t>431.17</a:t>
                      </a:r>
                    </a:p>
                  </a:txBody>
                  <a:tcPr>
                    <a:solidFill>
                      <a:srgbClr val="0E283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" y="6446520"/>
            <a:ext cx="112014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720" b="0">
                <a:solidFill>
                  <a:srgbClr val="A1B4CC"/>
                </a:solidFill>
                <a:latin typeface="Microsoft YaHei"/>
              </a:rPr>
              <a:t>Slide 1 | session=sess_8657404c43 | query=query_418e9ce7f6 | scheme=Presenton AI PPT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