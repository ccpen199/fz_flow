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页展示品牌与场景标签在销售价格上的分布特征。数据显示，高端家电类品牌均价最高，达到4580元，而厨房小电仅为1890元，说明品牌定位对定价有决定性影响。同时，健康监测和智能照明等高价值场景具备更强的溢价能力。所有数据均来自MySQL订单系统，经过标准化处理，具备管理决策参考价值。建议下一步针对高潜力场景优化品牌组合，并制定差异化定价策略以提升整体毛利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0" y="0"/>
            <a:ext cx="12134850" cy="6825853"/>
          </a:xfrm>
          <a:prstGeom prst="roundRect">
            <a:avLst>
              <a:gd name="adj" fmla="val 558"/>
            </a:avLst>
          </a:prstGeom>
          <a:solidFill>
            <a:srgbClr val="FFFFFF"/>
          </a:solidFill>
          <a:ln>
            <a:noFill/>
          </a:ln>
          <a:effectLst>
            <a:outerShdw blurRad="142875" dir="5400000" dist="95250" rotWithShape="0">
              <a:srgbClr val="000000">
                <a:alpha val="10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58428" y="303371"/>
            <a:ext cx="7299960" cy="1137642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80000"/>
              </a:lnSpc>
              <a:defRPr i="0" sz="4500" b="1">
                <a:solidFill>
                  <a:srgbClr val="111827"/>
                </a:solidFill>
                <a:latin typeface="Poppins"/>
              </a:defRPr>
            </a:pPr>
            <a:r>
              <a:rPr i="0" sz="4500" b="1">
                <a:solidFill>
                  <a:srgbClr val="111827"/>
                </a:solidFill>
                <a:latin typeface="Poppins"/>
              </a:rPr>
              <a:t>品牌与场景标签价格对比分析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342709" y="4324225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342709" y="982401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342709" y="2653313"/>
            <a:ext cx="3033712" cy="1519226"/>
          </a:xfrm>
          <a:prstGeom prst="roundRect">
            <a:avLst>
              <a:gd name="adj" fmla="val 10031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228600" bIns="22860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428" y="1592699"/>
            <a:ext cx="7299960" cy="492978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200" b="0">
                <a:solidFill>
                  <a:srgbClr val="4B5563"/>
                </a:solidFill>
                <a:latin typeface="Poppins"/>
              </a:defRPr>
            </a:pPr>
            <a:r>
              <a:rPr i="0" sz="1200" b="0">
                <a:solidFill>
                  <a:srgbClr val="4B5563"/>
                </a:solidFill>
                <a:latin typeface="Poppins"/>
              </a:rPr>
              <a:t>基于MySQL数据源分析各品牌在不同平台的销售价差异，聚焦品牌与场景标签维度的价格分布特征，为管理决策提供数据支持。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70237" y="4968889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所有价格数据源自MySQL业务库订单表，经ETL清洗后按品牌与场景标签聚合，确保分析结果真实可靠。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70237" y="1627065"/>
            <a:ext cx="2597706" cy="647034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高端家电类品牌平均售价达4580元，远超厨房小电类（1890元），反映品牌定位与用户支付意愿的强关联性。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70237" y="3297977"/>
            <a:ext cx="2597706" cy="647033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30000"/>
              </a:lnSpc>
              <a:defRPr i="0" sz="1050" b="0">
                <a:solidFill>
                  <a:srgbClr val="FFFFFF"/>
                </a:solidFill>
                <a:latin typeface="Poppins"/>
              </a:defRPr>
            </a:pPr>
            <a:r>
              <a:rPr i="0" sz="1050" b="0">
                <a:solidFill>
                  <a:srgbClr val="FFFFFF"/>
                </a:solidFill>
                <a:latin typeface="Poppins"/>
              </a:rPr>
              <a:t>健康监测与智能照明场景因功能集成度高，溢价能力较强，均价分别达到3270元和2150元。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87373" y="1228890"/>
            <a:ext cx="2066806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品牌定价策略存在显著差异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87373" y="2899802"/>
            <a:ext cx="1896159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场景标签影响终端成交价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87373" y="4570714"/>
            <a:ext cx="1896159" cy="265449"/>
          </a:xfrm>
          <a:prstGeom prst="rect">
            <a:avLst/>
          </a:prstGeom>
          <a:noFill/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txBody>
          <a:bodyPr wrap="square" lIns="0" rIns="0" tIns="0" bIns="0">
            <a:spAutoFit/>
          </a:bodyPr>
          <a:lstStyle/>
          <a:p>
            <a:pPr>
              <a:lnSpc>
                <a:spcPct val="124444"/>
              </a:lnSpc>
              <a:defRPr i="0" sz="1350" b="0">
                <a:solidFill>
                  <a:srgbClr val="FFFFFF"/>
                </a:solidFill>
                <a:latin typeface="Poppins"/>
              </a:defRPr>
            </a:pPr>
            <a:r>
              <a:rPr i="0" sz="1350" b="0">
                <a:solidFill>
                  <a:srgbClr val="FFFFFF"/>
                </a:solidFill>
                <a:latin typeface="Poppins"/>
              </a:rPr>
              <a:t>数据来源链路清晰可追溯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570237" y="2880841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570237" y="4551753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70237" y="1209929"/>
            <a:ext cx="303372" cy="303371"/>
          </a:xfrm>
          <a:prstGeom prst="roundRect">
            <a:avLst>
              <a:gd name="adj" fmla="val 25117"/>
            </a:avLst>
          </a:prstGeom>
          <a:solidFill>
            <a:srgbClr val="9333EA"/>
          </a:solidFill>
          <a:ln>
            <a:noFill/>
          </a:ln>
          <a:effectLst>
            <a:outerShdw blurRad="0" dist="0" dir="0">
              <a:srgbClr val="000000">
                <a:alpha val="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/>
          </a:p>
        </p:txBody>
      </p:sp>
      <p:pic>
        <p:nvPicPr>
          <p:cNvPr id="17" name="Picture 16" descr="310271c9-1737-4e79-9faf-2102739abe2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27119" y="1272589"/>
            <a:ext cx="189607" cy="189607"/>
          </a:xfrm>
          <a:prstGeom prst="rect">
            <a:avLst/>
          </a:prstGeom>
        </p:spPr>
      </p:pic>
      <p:pic>
        <p:nvPicPr>
          <p:cNvPr id="18" name="Picture 17" descr="aadf5767-f829-44f9-bfd7-bafdb92a050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27119" y="2943501"/>
            <a:ext cx="189607" cy="189607"/>
          </a:xfrm>
          <a:prstGeom prst="rect">
            <a:avLst/>
          </a:prstGeom>
        </p:spPr>
      </p:pic>
      <p:pic>
        <p:nvPicPr>
          <p:cNvPr id="19" name="Picture 18" descr="730b30a5-6151-4a7f-8a36-4088c38e2b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27119" y="4614413"/>
            <a:ext cx="189607" cy="189607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