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本页展示品牌维度下平均价格的聚合对比。最高项为ALAND，数值为730.22。汇报时应先说明口径来自 SQL 查询结果，再解释高低差异及后续复核方向。。。。。。。。。。。。。。。。。。。。。。。。。。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本页展示场景标签维度下平均价格的聚合对比。最高项为生活/休闲，数值为603.76。汇报时应先说明口径来自 SQL 查询结果，再解释高低差异及后续复核方向。。。。。。。。。。。。。。。。。。。。。。。。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用于承接图表结论，展示支撑结论的明细行。汇报时先说明排序口径，再指出这些明细与前序图表中最高或最低项目之间的关系，便于业务侧复核数据来源。。。。。。。。。。。。。。。。。。。。。。。。。。。。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为数据汇报的指标总览，用于快速说明查询规模、字段覆盖和关键数值。讲解时先给出指标口径，再连接前面图表页中的品牌或场景差异。。。。。。。。。。。。。。。。。。。。。。。。。。。。。。。。。。。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428" y="1573738"/>
            <a:ext cx="7280910" cy="4948743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9525">
            <a:solidFill>
              <a:srgbClr val="F8F9FA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/>
          </a:p>
        </p:txBody>
      </p:sp>
      <p:pic>
        <p:nvPicPr>
          <p:cNvPr id="4" name="Picture 3" descr="ef88dab2-2e57-45eb-a8fa-ef6b9d0b76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93" y="1734904"/>
            <a:ext cx="6958578" cy="43609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42709" y="4108547"/>
            <a:ext cx="3033712" cy="1519226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428" y="303371"/>
            <a:ext cx="7299960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品牌 平均价格对比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42709" y="1198079"/>
            <a:ext cx="3033712" cy="1303548"/>
          </a:xfrm>
          <a:prstGeom prst="roundRect">
            <a:avLst>
              <a:gd name="adj" fmla="val 1169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42709" y="2653313"/>
            <a:ext cx="3033712" cy="1303548"/>
          </a:xfrm>
          <a:prstGeom prst="roundRect">
            <a:avLst>
              <a:gd name="adj" fmla="val 1169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428" y="1023877"/>
            <a:ext cx="7299960" cy="24648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基于 SQL 结果按品牌聚合平均价格，展示 Top 4 的差异。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0237" y="4753211"/>
            <a:ext cx="2597706" cy="64703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本页数据来自 query=query_55dc91af05 的 SQL 结果聚合，保留原始字段用于复核。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0237" y="1842743"/>
            <a:ext cx="2597706" cy="431356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品牌维度中，ALAND的平均价格最高，数值为730.22。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0237" y="3297977"/>
            <a:ext cx="2597706" cy="43135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BAYFLOW处于当前图表低位，可作为后续下钻比较对象。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7373" y="2899802"/>
            <a:ext cx="1178318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BAYFLOW最低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7373" y="1444568"/>
            <a:ext cx="930940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ALAND最高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7373" y="4355036"/>
            <a:ext cx="872281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来源可追溯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0237" y="1425607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0237" y="2880841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0237" y="4336075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8275c713-18c1-4ee3-8c93-b3772f09ff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119" y="1488267"/>
            <a:ext cx="189607" cy="189607"/>
          </a:xfrm>
          <a:prstGeom prst="rect">
            <a:avLst/>
          </a:prstGeom>
        </p:spPr>
      </p:pic>
      <p:pic>
        <p:nvPicPr>
          <p:cNvPr id="20" name="Picture 19" descr="2f6afa7a-6d1b-4e65-a139-881c12e156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19" y="2943501"/>
            <a:ext cx="189607" cy="189607"/>
          </a:xfrm>
          <a:prstGeom prst="rect">
            <a:avLst/>
          </a:prstGeom>
        </p:spPr>
      </p:pic>
      <p:pic>
        <p:nvPicPr>
          <p:cNvPr id="21" name="Picture 20" descr="463999ed-d2df-4203-9df8-87449722aa8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119" y="4398734"/>
            <a:ext cx="189607" cy="189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428" y="1573738"/>
            <a:ext cx="7280910" cy="4948743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9525">
            <a:solidFill>
              <a:srgbClr val="F8F9FA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/>
          </a:p>
        </p:txBody>
      </p:sp>
      <p:pic>
        <p:nvPicPr>
          <p:cNvPr id="4" name="Picture 3" descr="67b328bb-7f69-4d5b-bde1-9b5de0dc18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93" y="1734904"/>
            <a:ext cx="6958578" cy="43609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42709" y="4108546"/>
            <a:ext cx="3033712" cy="1519227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428" y="303371"/>
            <a:ext cx="7299960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场景标签 平均价格对比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42709" y="1198079"/>
            <a:ext cx="3033712" cy="1303548"/>
          </a:xfrm>
          <a:prstGeom prst="roundRect">
            <a:avLst>
              <a:gd name="adj" fmla="val 1169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42709" y="2653313"/>
            <a:ext cx="3033712" cy="1303548"/>
          </a:xfrm>
          <a:prstGeom prst="roundRect">
            <a:avLst>
              <a:gd name="adj" fmla="val 1169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428" y="1023878"/>
            <a:ext cx="7299960" cy="24648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基于 SQL 结果按场景标签聚合平均价格，展示 Top 5 的差异。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0237" y="4753211"/>
            <a:ext cx="2597706" cy="647033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本页数据来自 query=query_55dc91af05 的 SQL 结果聚合，保留原始字段用于复核。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0237" y="1842743"/>
            <a:ext cx="2597706" cy="431356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场景标签维度中，生活/休闲的平均价格最高，数值为603.76。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0237" y="3297977"/>
            <a:ext cx="2597706" cy="43135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露营处于当前图表低位，可作为后续下钻比较对象。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7373" y="1444568"/>
            <a:ext cx="1125881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生活/休闲最高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7373" y="4355036"/>
            <a:ext cx="872281" cy="2654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来源可追溯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7373" y="2899802"/>
            <a:ext cx="701635" cy="2654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露营最低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0237" y="1425607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0237" y="2880841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0237" y="4336076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373d9ad1-d316-4dd1-a2cd-d8f42054c5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119" y="1488267"/>
            <a:ext cx="189607" cy="189607"/>
          </a:xfrm>
          <a:prstGeom prst="rect">
            <a:avLst/>
          </a:prstGeom>
        </p:spPr>
      </p:pic>
      <p:pic>
        <p:nvPicPr>
          <p:cNvPr id="20" name="Picture 19" descr="d60ea15f-5b0b-4fe7-966f-a9d883c18a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19" y="2943501"/>
            <a:ext cx="189607" cy="189607"/>
          </a:xfrm>
          <a:prstGeom prst="rect">
            <a:avLst/>
          </a:prstGeom>
        </p:spPr>
      </p:pic>
      <p:pic>
        <p:nvPicPr>
          <p:cNvPr id="21" name="Picture 20" descr="da599fd9-34d2-41ca-b54a-12a2a511109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119" y="4398734"/>
            <a:ext cx="189607" cy="189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95d36ab7-a7d4-4008-8a61-d7a6ffa6b5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26970" cy="6825853"/>
          </a:xfrm>
          <a:prstGeom prst="rect">
            <a:avLst/>
          </a:prstGeom>
        </p:spPr>
      </p:pic>
      <p:pic>
        <p:nvPicPr>
          <p:cNvPr id="4" name="Picture 3" descr="7c456c56-33e4-4bac-92bc-20ac9b36b6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707879" y="0"/>
            <a:ext cx="2426970" cy="68258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20227" y="1862888"/>
            <a:ext cx="8494395" cy="3782660"/>
          </a:xfrm>
          <a:prstGeom prst="roundRect">
            <a:avLst>
              <a:gd name="adj" fmla="val 2014"/>
            </a:avLst>
          </a:prstGeom>
          <a:solidFill>
            <a:srgbClr val="E5E7EB"/>
          </a:solidFill>
          <a:ln w="9525">
            <a:solidFill>
              <a:srgbClr val="E5E7EB"/>
            </a:solidFill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428" y="455057"/>
            <a:ext cx="10637043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SQL 结果 Top 明细</a:t>
            </a:r>
          </a:p>
        </p:txBody>
      </p:sp>
      <p:pic>
        <p:nvPicPr>
          <p:cNvPr id="7" name="Picture 6" descr="fc7e7eb1-4464-4b41-b8c8-06fbe0eac3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9708" y="3474548"/>
            <a:ext cx="8475433" cy="540380"/>
          </a:xfrm>
          <a:prstGeom prst="rect">
            <a:avLst/>
          </a:prstGeom>
        </p:spPr>
      </p:pic>
      <p:pic>
        <p:nvPicPr>
          <p:cNvPr id="8" name="Picture 7" descr="11fe92bf-768a-4efa-bf45-57569c2b545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9708" y="5095688"/>
            <a:ext cx="8475433" cy="540380"/>
          </a:xfrm>
          <a:prstGeom prst="rect">
            <a:avLst/>
          </a:prstGeom>
        </p:spPr>
      </p:pic>
      <p:pic>
        <p:nvPicPr>
          <p:cNvPr id="9" name="Picture 8" descr="2f7a7fa2-f3b5-4505-916a-7a16dcb5b72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9708" y="2934168"/>
            <a:ext cx="8475433" cy="540379"/>
          </a:xfrm>
          <a:prstGeom prst="rect">
            <a:avLst/>
          </a:prstGeom>
        </p:spPr>
      </p:pic>
      <p:pic>
        <p:nvPicPr>
          <p:cNvPr id="10" name="Picture 9" descr="08582f8f-7b66-4bd2-a1c9-d179585813b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9708" y="4014929"/>
            <a:ext cx="8475433" cy="540379"/>
          </a:xfrm>
          <a:prstGeom prst="rect">
            <a:avLst/>
          </a:prstGeom>
        </p:spPr>
      </p:pic>
      <p:pic>
        <p:nvPicPr>
          <p:cNvPr id="11" name="Picture 10" descr="0496e161-73fe-4e91-86ac-b2ca58e6bc7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9708" y="4555309"/>
            <a:ext cx="8475433" cy="54037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829708" y="1872369"/>
            <a:ext cx="8475433" cy="530900"/>
          </a:xfrm>
          <a:prstGeom prst="roundRect">
            <a:avLst>
              <a:gd name="adj" fmla="val 14352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9d49f56a-9cb8-48db-bf73-c22e89f3c04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9708" y="2403269"/>
            <a:ext cx="8475433" cy="5308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20227" y="6294952"/>
            <a:ext cx="8513445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展示 SQL 结果中最关键的 6 行数据，字段包括 品牌、场景标签、平均价格。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9708" y="1872369"/>
            <a:ext cx="2837825" cy="5309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228600" rIns="228600" tIns="152400" bIns="15240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111827"/>
                </a:solidFill>
                <a:latin typeface="Poppins"/>
              </a:defRPr>
            </a:pPr>
            <a:r>
              <a:rPr i="0" sz="1200" b="0">
                <a:solidFill>
                  <a:srgbClr val="111827"/>
                </a:solidFill>
                <a:latin typeface="Poppins"/>
              </a:rPr>
              <a:t>品牌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9996" y="3484029"/>
            <a:ext cx="2815665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79996" y="4024409"/>
            <a:ext cx="2815665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79996" y="4564788"/>
            <a:ext cx="2815665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9996" y="5105169"/>
            <a:ext cx="2815665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9708" y="3484029"/>
            <a:ext cx="2815664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54853" y="3484029"/>
            <a:ext cx="2815664" cy="5309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9708" y="4024409"/>
            <a:ext cx="2815664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54853" y="4024409"/>
            <a:ext cx="2815664" cy="5309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9708" y="4564788"/>
            <a:ext cx="2815664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54853" y="4564788"/>
            <a:ext cx="2815664" cy="5309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29708" y="5105169"/>
            <a:ext cx="2815664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54853" y="5105169"/>
            <a:ext cx="2815664" cy="5309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9996" y="2403269"/>
            <a:ext cx="2815665" cy="530898"/>
          </a:xfrm>
          <a:prstGeom prst="roundRect">
            <a:avLst>
              <a:gd name="adj" fmla="val 14353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79996" y="2943649"/>
            <a:ext cx="2815665" cy="530898"/>
          </a:xfrm>
          <a:prstGeom prst="roundRect">
            <a:avLst>
              <a:gd name="adj" fmla="val 14353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29708" y="2403269"/>
            <a:ext cx="2815664" cy="530898"/>
          </a:xfrm>
          <a:prstGeom prst="roundRect">
            <a:avLst>
              <a:gd name="adj" fmla="val 14353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54853" y="2403269"/>
            <a:ext cx="2815664" cy="530898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29708" y="2943649"/>
            <a:ext cx="2815664" cy="530898"/>
          </a:xfrm>
          <a:prstGeom prst="roundRect">
            <a:avLst>
              <a:gd name="adj" fmla="val 14353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54853" y="2943649"/>
            <a:ext cx="2815664" cy="530898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13747" y="2024055"/>
            <a:ext cx="2382916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111827"/>
                </a:solidFill>
                <a:latin typeface="Poppins"/>
              </a:defRPr>
            </a:pPr>
            <a:r>
              <a:rPr i="0" sz="1200" b="0">
                <a:solidFill>
                  <a:srgbClr val="111827"/>
                </a:solidFill>
                <a:latin typeface="Poppins"/>
              </a:rPr>
              <a:t>平均价格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5492" y="2024055"/>
            <a:ext cx="238276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111827"/>
                </a:solidFill>
                <a:latin typeface="Poppins"/>
              </a:defRPr>
            </a:pPr>
            <a:r>
              <a:rPr i="0" sz="1200" b="0">
                <a:solidFill>
                  <a:srgbClr val="111827"/>
                </a:solidFill>
                <a:latin typeface="Poppins"/>
              </a:rPr>
              <a:t>场景标签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236" y="2554954"/>
            <a:ext cx="2379658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ALAND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236" y="3095334"/>
            <a:ext cx="2379658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A part 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2381" y="2554954"/>
            <a:ext cx="2379657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生活/休闲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7526" y="2554954"/>
            <a:ext cx="2379657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730.22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2381" y="3095334"/>
            <a:ext cx="2379657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生活/休闲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07526" y="3095334"/>
            <a:ext cx="2379657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649.88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236" y="3635715"/>
            <a:ext cx="237965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Elura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236" y="4176095"/>
            <a:ext cx="237965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A part 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236" y="4716474"/>
            <a:ext cx="237965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BAYFLOW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236" y="5256855"/>
            <a:ext cx="237965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BAYFLOW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2381" y="363571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差旅/商务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07526" y="363571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488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2381" y="417609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差旅/商务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07526" y="417609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457.50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2381" y="4716474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生活/休闲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07526" y="4716474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431.17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2381" y="525685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差旅/商务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7526" y="525685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396.50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88210" y="1175563"/>
            <a:ext cx="758428" cy="3792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b6dd28e3-0d5c-4016-afe5-0321507ac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26970" cy="6825853"/>
          </a:xfrm>
          <a:prstGeom prst="rect">
            <a:avLst/>
          </a:prstGeom>
        </p:spPr>
      </p:pic>
      <p:pic>
        <p:nvPicPr>
          <p:cNvPr id="4" name="Picture 3" descr="d5d06827-c27b-4d54-8350-75bcbf431e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707879" y="0"/>
            <a:ext cx="2426970" cy="6825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428" y="1952952"/>
            <a:ext cx="10637043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关键指标概览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882" y="4038630"/>
            <a:ext cx="3337084" cy="758428"/>
          </a:xfrm>
          <a:prstGeom prst="roundRect">
            <a:avLst>
              <a:gd name="adj" fmla="val 1004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428" y="4038630"/>
            <a:ext cx="3337083" cy="758428"/>
          </a:xfrm>
          <a:prstGeom prst="roundRect">
            <a:avLst>
              <a:gd name="adj" fmla="val 1004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9338" y="4038630"/>
            <a:ext cx="3337083" cy="758428"/>
          </a:xfrm>
          <a:prstGeom prst="roundRect">
            <a:avLst>
              <a:gd name="adj" fmla="val 1004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8882" y="3318123"/>
            <a:ext cx="3356134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9333EA"/>
                </a:solidFill>
                <a:latin typeface="Poppins"/>
              </a:defRPr>
            </a:pPr>
            <a:r>
              <a:rPr i="0" sz="4500" b="1">
                <a:solidFill>
                  <a:srgbClr val="9333EA"/>
                </a:solidFill>
                <a:latin typeface="Poppins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428" y="3318123"/>
            <a:ext cx="3356133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9333EA"/>
                </a:solidFill>
                <a:latin typeface="Poppins"/>
              </a:defRPr>
            </a:pPr>
            <a:r>
              <a:rPr i="0" sz="4500" b="1">
                <a:solidFill>
                  <a:srgbClr val="9333EA"/>
                </a:solidFill>
                <a:latin typeface="Poppins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338" y="3318123"/>
            <a:ext cx="3356133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9333EA"/>
                </a:solidFill>
                <a:latin typeface="Poppins"/>
              </a:defRPr>
            </a:pPr>
            <a:r>
              <a:rPr i="0" sz="4500" b="1">
                <a:solidFill>
                  <a:srgbClr val="9333EA"/>
                </a:solidFill>
                <a:latin typeface="Poppi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489" y="4228237"/>
            <a:ext cx="2976920" cy="37921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预览行数 当前值为 52，用于概览本次 SQL 分析范围。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035" y="4228237"/>
            <a:ext cx="2976919" cy="37921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返回行数 当前值为 52，用于概览本次 SQL 分析范围。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8945" y="4228237"/>
            <a:ext cx="2976919" cy="37921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字段数 当前值为 3，用于概览本次 SQL 分析范围。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882" y="2976829"/>
            <a:ext cx="3356134" cy="18960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预览行数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428" y="2976829"/>
            <a:ext cx="3356133" cy="18960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返回行数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9338" y="2976829"/>
            <a:ext cx="3356133" cy="18960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字段数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